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Inter" panose="020B0604020202020204" charset="0"/>
      <p:bold r:id="rId9"/>
      <p:boldItalic r:id="rId10"/>
    </p:embeddedFont>
    <p:embeddedFont>
      <p:font typeface="Inter ExtraBold" panose="020B0604020202020204" charset="0"/>
      <p:bold r:id="rId11"/>
      <p:boldItalic r:id="rId12"/>
    </p:embeddedFont>
    <p:embeddedFont>
      <p:font typeface="Inter Medium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shish yadav" initials="Ay" lastIdx="1" clrIdx="0">
    <p:extLst>
      <p:ext uri="{19B8F6BF-5375-455C-9EA6-DF929625EA0E}">
        <p15:presenceInfo xmlns:p15="http://schemas.microsoft.com/office/powerpoint/2012/main" userId="d60606be20f3aae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6c63aed4d38af352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6c63aed4d38af352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6c63aed4d38af352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6c63aed4d38af352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6c63aed4d38af352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6c63aed4d38af352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6c63aed4d38af352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h6c63aed4d38af352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6c63aed4d38af352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h6c63aed4d38af352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571499" y="365624"/>
            <a:ext cx="5357813" cy="331575"/>
            <a:chOff x="0" y="0"/>
            <a:chExt cx="3905400" cy="324000"/>
          </a:xfrm>
        </p:grpSpPr>
        <p:sp>
          <p:nvSpPr>
            <p:cNvPr id="55" name="Google Shape;55;p13"/>
            <p:cNvSpPr/>
            <p:nvPr/>
          </p:nvSpPr>
          <p:spPr>
            <a:xfrm>
              <a:off x="0" y="0"/>
              <a:ext cx="3905400" cy="324000"/>
            </a:xfrm>
            <a:prstGeom prst="roundRect">
              <a:avLst>
                <a:gd name="adj" fmla="val 50000"/>
              </a:avLst>
            </a:prstGeom>
            <a:solidFill>
              <a:srgbClr val="1E1B4B"/>
            </a:solidFill>
            <a:ln w="9525" cap="flat" cmpd="sng">
              <a:solidFill>
                <a:srgbClr val="3730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 txBox="1"/>
            <p:nvPr/>
          </p:nvSpPr>
          <p:spPr>
            <a:xfrm>
              <a:off x="0" y="0"/>
              <a:ext cx="3905400" cy="3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50" b="1" i="0">
                  <a:solidFill>
                    <a:srgbClr val="818CF8"/>
                  </a:solidFill>
                  <a:latin typeface="Inter"/>
                  <a:ea typeface="Inter"/>
                  <a:cs typeface="Inter"/>
                  <a:sym typeface="Inter"/>
                </a:rPr>
                <a:t>DATA ANALYTICS WITH GENAI • CAPSTONE PROJECT</a:t>
              </a:r>
              <a:endParaRPr sz="1150" b="1" i="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7" name="Google Shape;57;p13"/>
          <p:cNvSpPr txBox="1"/>
          <p:nvPr/>
        </p:nvSpPr>
        <p:spPr>
          <a:xfrm>
            <a:off x="571500" y="868650"/>
            <a:ext cx="8001000" cy="119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0" i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Black Friday Analysis</a:t>
            </a:r>
            <a:endParaRPr sz="5000" b="0" i="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300" b="0" i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Business Understanding &amp; Analytical Planning</a:t>
            </a:r>
            <a:endParaRPr sz="2300" b="0" i="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571500" y="2238375"/>
            <a:ext cx="4953000" cy="1476300"/>
            <a:chOff x="0" y="0"/>
            <a:chExt cx="4953000" cy="1476300"/>
          </a:xfrm>
        </p:grpSpPr>
        <p:sp>
          <p:nvSpPr>
            <p:cNvPr id="59" name="Google Shape;59;p13"/>
            <p:cNvSpPr/>
            <p:nvPr/>
          </p:nvSpPr>
          <p:spPr>
            <a:xfrm>
              <a:off x="0" y="0"/>
              <a:ext cx="4953000" cy="1476300"/>
            </a:xfrm>
            <a:prstGeom prst="roundRect">
              <a:avLst>
                <a:gd name="adj" fmla="val 10322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66700" y="209550"/>
              <a:ext cx="1143000" cy="285900"/>
            </a:xfrm>
            <a:prstGeom prst="roundRect">
              <a:avLst>
                <a:gd name="adj" fmla="val 20000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 txBox="1"/>
            <p:nvPr/>
          </p:nvSpPr>
          <p:spPr>
            <a:xfrm>
              <a:off x="266700" y="209550"/>
              <a:ext cx="1143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OBJECTIVE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266700" y="590550"/>
              <a:ext cx="44196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0" i="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Understand customer behavior, product demand, and sales performance during Black Friday to support data-driven retail decisions.</a:t>
              </a:r>
              <a:endParaRPr sz="1500" b="0" i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650625" y="3939675"/>
            <a:ext cx="4952962" cy="990592"/>
            <a:chOff x="0" y="0"/>
            <a:chExt cx="3238500" cy="647700"/>
          </a:xfrm>
        </p:grpSpPr>
        <p:sp>
          <p:nvSpPr>
            <p:cNvPr id="64" name="Google Shape;64;p13"/>
            <p:cNvSpPr/>
            <p:nvPr/>
          </p:nvSpPr>
          <p:spPr>
            <a:xfrm>
              <a:off x="0" y="0"/>
              <a:ext cx="3238500" cy="647700"/>
            </a:xfrm>
            <a:prstGeom prst="roundRect">
              <a:avLst>
                <a:gd name="adj" fmla="val 26989"/>
              </a:avLst>
            </a:prstGeom>
            <a:solidFill>
              <a:srgbClr val="1E293B"/>
            </a:solidFill>
            <a:ln w="2187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 txBox="1"/>
            <p:nvPr/>
          </p:nvSpPr>
          <p:spPr>
            <a:xfrm>
              <a:off x="190500" y="0"/>
              <a:ext cx="28575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6" b="0" i="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Prepared by</a:t>
              </a:r>
              <a:endParaRPr sz="1606" b="0" i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306"/>
                </a:spcBef>
                <a:spcAft>
                  <a:spcPts val="0"/>
                </a:spcAft>
                <a:buNone/>
              </a:pPr>
              <a:r>
                <a:rPr lang="en-GB" sz="2447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Aashish Yadav</a:t>
              </a:r>
              <a:endParaRPr sz="1606" b="0" i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6" name="Google Shape;66;p13"/>
          <p:cNvGrpSpPr/>
          <p:nvPr/>
        </p:nvGrpSpPr>
        <p:grpSpPr>
          <a:xfrm>
            <a:off x="6074025" y="2292600"/>
            <a:ext cx="2571900" cy="2571900"/>
            <a:chOff x="0" y="0"/>
            <a:chExt cx="2571900" cy="2571900"/>
          </a:xfrm>
        </p:grpSpPr>
        <p:pic>
          <p:nvPicPr>
            <p:cNvPr id="67" name="Google Shape;67;p13" descr="A stylish and modern Black Friday sale promo illustration with shopping bags, gift boxes, discount tags, and sleek dark neon aesthetic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2571900" cy="2571900"/>
            </a:xfrm>
            <a:prstGeom prst="roundRect">
              <a:avLst>
                <a:gd name="adj" fmla="val 5925"/>
              </a:avLst>
            </a:prstGeom>
            <a:noFill/>
            <a:ln>
              <a:noFill/>
            </a:ln>
          </p:spPr>
        </p:pic>
        <p:sp>
          <p:nvSpPr>
            <p:cNvPr id="68" name="Google Shape;68;p13"/>
            <p:cNvSpPr/>
            <p:nvPr/>
          </p:nvSpPr>
          <p:spPr>
            <a:xfrm>
              <a:off x="0" y="0"/>
              <a:ext cx="2571900" cy="2571900"/>
            </a:xfrm>
            <a:prstGeom prst="roundRect">
              <a:avLst>
                <a:gd name="adj" fmla="val 5924"/>
              </a:avLst>
            </a:prstGeom>
            <a:solidFill>
              <a:srgbClr val="000000">
                <a:alpha val="0"/>
              </a:srgbClr>
            </a:solidFill>
            <a:ln w="14300" cap="flat" cmpd="sng">
              <a:solidFill>
                <a:srgbClr val="4F46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/>
        </p:nvSpPr>
        <p:spPr>
          <a:xfrm>
            <a:off x="381000" y="247650"/>
            <a:ext cx="83820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0" i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Business Challenges</a:t>
            </a:r>
            <a:endParaRPr sz="3000" b="0" i="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350" b="0" i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Key operational and strategic obstacles during Black Friday sales</a:t>
            </a:r>
            <a:endParaRPr sz="1350" b="0" i="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74" name="Google Shape;74;p14"/>
          <p:cNvGrpSpPr/>
          <p:nvPr/>
        </p:nvGrpSpPr>
        <p:grpSpPr>
          <a:xfrm>
            <a:off x="381000" y="1095375"/>
            <a:ext cx="2667000" cy="1714500"/>
            <a:chOff x="0" y="0"/>
            <a:chExt cx="2667000" cy="1714500"/>
          </a:xfrm>
        </p:grpSpPr>
        <p:sp>
          <p:nvSpPr>
            <p:cNvPr id="75" name="Google Shape;75;p14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171450" y="152400"/>
              <a:ext cx="381000" cy="285900"/>
            </a:xfrm>
            <a:prstGeom prst="roundRect">
              <a:avLst>
                <a:gd name="adj" fmla="val 20000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171450" y="152400"/>
              <a:ext cx="38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sz="12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171450" y="514350"/>
              <a:ext cx="23241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Demand Spikes</a:t>
              </a:r>
              <a:endParaRPr sz="15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lang="en-GB" sz="11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Black Friday creates a sudden increase in customer demand, putting pressure on inventory and operations.</a:t>
              </a:r>
              <a:endParaRPr sz="115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9" name="Google Shape;79;p14"/>
          <p:cNvGrpSpPr/>
          <p:nvPr/>
        </p:nvGrpSpPr>
        <p:grpSpPr>
          <a:xfrm>
            <a:off x="3238500" y="1095375"/>
            <a:ext cx="2667000" cy="1714500"/>
            <a:chOff x="0" y="0"/>
            <a:chExt cx="2667000" cy="1714500"/>
          </a:xfrm>
        </p:grpSpPr>
        <p:sp>
          <p:nvSpPr>
            <p:cNvPr id="80" name="Google Shape;80;p14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171450" y="152400"/>
              <a:ext cx="381000" cy="285900"/>
            </a:xfrm>
            <a:prstGeom prst="roundRect">
              <a:avLst>
                <a:gd name="adj" fmla="val 20000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171450" y="152400"/>
              <a:ext cx="38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sz="12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3" name="Google Shape;83;p14"/>
            <p:cNvSpPr txBox="1"/>
            <p:nvPr/>
          </p:nvSpPr>
          <p:spPr>
            <a:xfrm>
              <a:off x="171450" y="514350"/>
              <a:ext cx="23241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Fragmented Behavior</a:t>
              </a:r>
              <a:endParaRPr sz="15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lang="en-GB" sz="11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Different age groups, genders, occupations, and marital-status groups show distinct purchasing patterns.</a:t>
              </a:r>
              <a:endParaRPr sz="115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4" name="Google Shape;84;p14"/>
          <p:cNvGrpSpPr/>
          <p:nvPr/>
        </p:nvGrpSpPr>
        <p:grpSpPr>
          <a:xfrm>
            <a:off x="6096000" y="1095375"/>
            <a:ext cx="2667000" cy="1714500"/>
            <a:chOff x="0" y="0"/>
            <a:chExt cx="2667000" cy="1714500"/>
          </a:xfrm>
        </p:grpSpPr>
        <p:sp>
          <p:nvSpPr>
            <p:cNvPr id="85" name="Google Shape;85;p14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171450" y="152400"/>
              <a:ext cx="381000" cy="285900"/>
            </a:xfrm>
            <a:prstGeom prst="roundRect">
              <a:avLst>
                <a:gd name="adj" fmla="val 20000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171450" y="152400"/>
              <a:ext cx="38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sz="12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171450" y="514350"/>
              <a:ext cx="23241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City-Level Differences</a:t>
              </a:r>
              <a:endParaRPr sz="15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lang="en-GB" sz="11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Customer purchasing behavior varies significantly across City Categories A, B, and C.</a:t>
              </a:r>
              <a:endParaRPr sz="115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" name="Google Shape;89;p14"/>
          <p:cNvGrpSpPr/>
          <p:nvPr/>
        </p:nvGrpSpPr>
        <p:grpSpPr>
          <a:xfrm>
            <a:off x="381000" y="3000375"/>
            <a:ext cx="2667000" cy="1714500"/>
            <a:chOff x="0" y="0"/>
            <a:chExt cx="2667000" cy="1714500"/>
          </a:xfrm>
        </p:grpSpPr>
        <p:sp>
          <p:nvSpPr>
            <p:cNvPr id="90" name="Google Shape;90;p14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171450" y="152400"/>
              <a:ext cx="381000" cy="285900"/>
            </a:xfrm>
            <a:prstGeom prst="roundRect">
              <a:avLst>
                <a:gd name="adj" fmla="val 20000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4"/>
            <p:cNvSpPr txBox="1"/>
            <p:nvPr/>
          </p:nvSpPr>
          <p:spPr>
            <a:xfrm>
              <a:off x="171450" y="152400"/>
              <a:ext cx="38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sz="12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171450" y="514350"/>
              <a:ext cx="23241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Unpredictable Demand</a:t>
              </a:r>
              <a:endParaRPr sz="15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lang="en-GB" sz="11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Some product categories perform strongly while others underperform unpredictably.</a:t>
              </a:r>
              <a:endParaRPr sz="115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" name="Google Shape;94;p14"/>
          <p:cNvGrpSpPr/>
          <p:nvPr/>
        </p:nvGrpSpPr>
        <p:grpSpPr>
          <a:xfrm>
            <a:off x="3238500" y="3000375"/>
            <a:ext cx="2667000" cy="1714500"/>
            <a:chOff x="0" y="0"/>
            <a:chExt cx="2667000" cy="1714500"/>
          </a:xfrm>
        </p:grpSpPr>
        <p:sp>
          <p:nvSpPr>
            <p:cNvPr id="95" name="Google Shape;95;p14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171450" y="152400"/>
              <a:ext cx="381000" cy="285900"/>
            </a:xfrm>
            <a:prstGeom prst="roundRect">
              <a:avLst>
                <a:gd name="adj" fmla="val 20000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71450" y="152400"/>
              <a:ext cx="38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  <a:endParaRPr sz="12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171450" y="514350"/>
              <a:ext cx="23241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Promotional Impact</a:t>
              </a:r>
              <a:endParaRPr sz="15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lang="en-GB" sz="11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Management needs clarity on whether promotional campaigns generate true incremental sales.</a:t>
              </a:r>
              <a:endParaRPr sz="115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6096000" y="3000375"/>
            <a:ext cx="2667000" cy="1714500"/>
            <a:chOff x="0" y="0"/>
            <a:chExt cx="2667000" cy="1714500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171450" y="152400"/>
              <a:ext cx="381000" cy="285900"/>
            </a:xfrm>
            <a:prstGeom prst="roundRect">
              <a:avLst>
                <a:gd name="adj" fmla="val 20000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171450" y="152400"/>
              <a:ext cx="38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06</a:t>
              </a:r>
              <a:endParaRPr sz="12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71450" y="514350"/>
              <a:ext cx="2324100" cy="1095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Customer Retention</a:t>
              </a:r>
              <a:endParaRPr sz="15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500"/>
                </a:spcAft>
                <a:buNone/>
              </a:pPr>
              <a:r>
                <a:rPr lang="en-GB" sz="11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retailer must identify and retain high-value customers beyond the Black Friday event.</a:t>
              </a:r>
              <a:endParaRPr sz="115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>
            <a:off x="381000" y="247650"/>
            <a:ext cx="8382000" cy="714300"/>
            <a:chOff x="0" y="0"/>
            <a:chExt cx="8382000" cy="714300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 b="0" i="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Analytical Goals</a:t>
              </a:r>
              <a:endParaRPr sz="3000" b="0" i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GB" sz="1350" b="0" i="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Key objectives and focus areas for the data analysis</a:t>
              </a:r>
              <a:endParaRPr sz="1350" b="0" i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381000" y="1095375"/>
            <a:ext cx="1952700" cy="1714500"/>
            <a:chOff x="0" y="0"/>
            <a:chExt cx="1952700" cy="1714500"/>
          </a:xfrm>
        </p:grpSpPr>
        <p:sp>
          <p:nvSpPr>
            <p:cNvPr id="118" name="Google Shape;118;p15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High-Value Segments</a:t>
              </a:r>
              <a:endParaRPr sz="13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Identify </a:t>
              </a:r>
              <a:r>
                <a:rPr lang="en-GB" sz="10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high-value customer segments</a:t>
              </a: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2524125" y="1095375"/>
            <a:ext cx="1952700" cy="1714500"/>
            <a:chOff x="0" y="0"/>
            <a:chExt cx="1952700" cy="1714500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Target Markets</a:t>
              </a:r>
              <a:endParaRPr sz="13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Identify </a:t>
              </a:r>
              <a:r>
                <a:rPr lang="en-GB" sz="10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underpenetrated customer groups and markets</a:t>
              </a: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" name="Google Shape;129;p15"/>
          <p:cNvGrpSpPr/>
          <p:nvPr/>
        </p:nvGrpSpPr>
        <p:grpSpPr>
          <a:xfrm>
            <a:off x="4667250" y="1095375"/>
            <a:ext cx="1952700" cy="1714500"/>
            <a:chOff x="0" y="0"/>
            <a:chExt cx="1952700" cy="1714500"/>
          </a:xfrm>
        </p:grpSpPr>
        <p:sp>
          <p:nvSpPr>
            <p:cNvPr id="130" name="Google Shape;130;p15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3" name="Google Shape;133;p15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4" name="Google Shape;134;p15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Demographics</a:t>
              </a:r>
              <a:endParaRPr sz="13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Analyze how </a:t>
              </a:r>
              <a:r>
                <a:rPr lang="en-GB" sz="10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age, gender, occupation, marital status, &amp; city tenure</a:t>
              </a: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drive behavior.</a:t>
              </a:r>
              <a:endParaRPr sz="10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5" name="Google Shape;135;p15"/>
          <p:cNvGrpSpPr/>
          <p:nvPr/>
        </p:nvGrpSpPr>
        <p:grpSpPr>
          <a:xfrm>
            <a:off x="6810375" y="1095375"/>
            <a:ext cx="1952700" cy="1714500"/>
            <a:chOff x="0" y="0"/>
            <a:chExt cx="1952700" cy="1714500"/>
          </a:xfrm>
        </p:grpSpPr>
        <p:sp>
          <p:nvSpPr>
            <p:cNvPr id="136" name="Google Shape;136;p15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5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9" name="Google Shape;139;p15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Product Demand</a:t>
              </a:r>
              <a:endParaRPr sz="13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Evaluate </a:t>
              </a:r>
              <a:r>
                <a:rPr lang="en-GB" sz="10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product category performance</a:t>
              </a: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across key lines.</a:t>
              </a:r>
              <a:endParaRPr sz="10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" name="Google Shape;141;p15"/>
          <p:cNvGrpSpPr/>
          <p:nvPr/>
        </p:nvGrpSpPr>
        <p:grpSpPr>
          <a:xfrm>
            <a:off x="381000" y="2952750"/>
            <a:ext cx="1952700" cy="1714500"/>
            <a:chOff x="0" y="0"/>
            <a:chExt cx="1952700" cy="1714500"/>
          </a:xfrm>
        </p:grpSpPr>
        <p:sp>
          <p:nvSpPr>
            <p:cNvPr id="142" name="Google Shape;142;p15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" name="Google Shape;145;p15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6" name="Google Shape;146;p15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Cross-Selling</a:t>
              </a:r>
              <a:endParaRPr sz="13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Identify strategic opportunities for </a:t>
              </a:r>
              <a:r>
                <a:rPr lang="en-GB" sz="10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cross-selling and upselling</a:t>
              </a: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2524125" y="2952750"/>
            <a:ext cx="1952700" cy="1714500"/>
            <a:chOff x="0" y="0"/>
            <a:chExt cx="1952700" cy="1714500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5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06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1" name="Google Shape;151;p15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2" name="Google Shape;152;p15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City Comparison</a:t>
              </a:r>
              <a:endParaRPr sz="13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Compare spending patterns across </a:t>
              </a:r>
              <a:r>
                <a:rPr lang="en-GB" sz="10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City Categories A, B, and C</a:t>
              </a: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3" name="Google Shape;153;p15"/>
          <p:cNvGrpSpPr/>
          <p:nvPr/>
        </p:nvGrpSpPr>
        <p:grpSpPr>
          <a:xfrm>
            <a:off x="4667250" y="2952750"/>
            <a:ext cx="1952700" cy="1714500"/>
            <a:chOff x="0" y="0"/>
            <a:chExt cx="1952700" cy="1714500"/>
          </a:xfrm>
        </p:grpSpPr>
        <p:sp>
          <p:nvSpPr>
            <p:cNvPr id="154" name="Google Shape;154;p15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07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Repeat Purchases</a:t>
              </a:r>
              <a:endParaRPr sz="13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Analyze </a:t>
              </a:r>
              <a:r>
                <a:rPr lang="en-GB" sz="10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repeat purchase behavior</a:t>
              </a: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and loyalty factors.</a:t>
              </a:r>
              <a:endParaRPr sz="10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9" name="Google Shape;159;p15"/>
          <p:cNvGrpSpPr/>
          <p:nvPr/>
        </p:nvGrpSpPr>
        <p:grpSpPr>
          <a:xfrm>
            <a:off x="6810375" y="2952750"/>
            <a:ext cx="1952700" cy="1714500"/>
            <a:chOff x="0" y="0"/>
            <a:chExt cx="1952700" cy="1714500"/>
          </a:xfrm>
        </p:grpSpPr>
        <p:sp>
          <p:nvSpPr>
            <p:cNvPr id="160" name="Google Shape;160;p15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08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3" name="Google Shape;163;p15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4" name="Google Shape;164;p15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Actionable Insights</a:t>
              </a:r>
              <a:endParaRPr sz="13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Provide insights for </a:t>
              </a:r>
              <a:r>
                <a:rPr lang="en-GB" sz="1000" b="1" i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marketing, loyalty, and inventory planning</a:t>
              </a:r>
              <a:r>
                <a:rPr lang="en-GB" sz="100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000" b="1" i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/>
        </p:nvSpPr>
        <p:spPr>
          <a:xfrm>
            <a:off x="381000" y="190500"/>
            <a:ext cx="83820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i="0" u="none" strike="noStrike" dirty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KPIs</a:t>
            </a:r>
            <a:endParaRPr sz="3200" b="0" i="0" u="none" strike="noStrike" dirty="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70" name="Google Shape;170;p16"/>
          <p:cNvGrpSpPr/>
          <p:nvPr/>
        </p:nvGrpSpPr>
        <p:grpSpPr>
          <a:xfrm>
            <a:off x="821530" y="1371450"/>
            <a:ext cx="7941470" cy="562050"/>
            <a:chOff x="0" y="-150"/>
            <a:chExt cx="8382000" cy="562050"/>
          </a:xfrm>
        </p:grpSpPr>
        <p:sp>
          <p:nvSpPr>
            <p:cNvPr id="171" name="Google Shape;171;p16"/>
            <p:cNvSpPr/>
            <p:nvPr/>
          </p:nvSpPr>
          <p:spPr>
            <a:xfrm>
              <a:off x="0" y="0"/>
              <a:ext cx="8382000" cy="514500"/>
            </a:xfrm>
            <a:prstGeom prst="roundRect">
              <a:avLst>
                <a:gd name="adj" fmla="val 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6"/>
            <p:cNvSpPr txBox="1"/>
            <p:nvPr/>
          </p:nvSpPr>
          <p:spPr>
            <a:xfrm>
              <a:off x="118127" y="-150"/>
              <a:ext cx="18669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50" b="1" i="0" u="none" strike="noStrik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Total Sales</a:t>
              </a:r>
              <a:endParaRPr sz="1150" b="1" i="0" u="none" strike="noStrik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2260216" y="47400"/>
              <a:ext cx="27624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 dirty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Total purchase amount</a:t>
              </a:r>
              <a:endParaRPr sz="1100" b="0" i="0" u="none" strike="noStrik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5365988" y="28087"/>
              <a:ext cx="26670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 dirty="0">
                  <a:solidFill>
                    <a:srgbClr val="C7D2F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Measure overall Black Friday performance</a:t>
              </a:r>
              <a:endParaRPr sz="1100" b="0" i="0" u="none" strike="noStrike" dirty="0">
                <a:solidFill>
                  <a:srgbClr val="C7D2F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77" name="Google Shape;177;p16"/>
          <p:cNvGrpSpPr/>
          <p:nvPr/>
        </p:nvGrpSpPr>
        <p:grpSpPr>
          <a:xfrm>
            <a:off x="821530" y="1885800"/>
            <a:ext cx="7941470" cy="562200"/>
            <a:chOff x="0" y="0"/>
            <a:chExt cx="8382000" cy="562200"/>
          </a:xfrm>
        </p:grpSpPr>
        <p:sp>
          <p:nvSpPr>
            <p:cNvPr id="178" name="Google Shape;178;p16"/>
            <p:cNvSpPr/>
            <p:nvPr/>
          </p:nvSpPr>
          <p:spPr>
            <a:xfrm>
              <a:off x="0" y="0"/>
              <a:ext cx="8382000" cy="514500"/>
            </a:xfrm>
            <a:prstGeom prst="roundRect">
              <a:avLst>
                <a:gd name="adj" fmla="val 0"/>
              </a:avLst>
            </a:prstGeom>
            <a:solidFill>
              <a:srgbClr val="0F172A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6"/>
            <p:cNvSpPr txBox="1"/>
            <p:nvPr/>
          </p:nvSpPr>
          <p:spPr>
            <a:xfrm>
              <a:off x="118127" y="23850"/>
              <a:ext cx="18669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50" b="1" i="0" u="none" strike="noStrike" dirty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Average Purchase per Customer</a:t>
              </a:r>
              <a:endParaRPr sz="1150" b="1" i="0" u="none" strike="noStrik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2" name="Google Shape;182;p16"/>
            <p:cNvSpPr txBox="1"/>
            <p:nvPr/>
          </p:nvSpPr>
          <p:spPr>
            <a:xfrm>
              <a:off x="2247700" y="0"/>
              <a:ext cx="27624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 dirty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Average customer spending</a:t>
              </a:r>
              <a:endParaRPr sz="1100" b="0" i="0" u="none" strike="noStrik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3" name="Google Shape;183;p16"/>
            <p:cNvSpPr txBox="1"/>
            <p:nvPr/>
          </p:nvSpPr>
          <p:spPr>
            <a:xfrm>
              <a:off x="5362549" y="47700"/>
              <a:ext cx="26670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 dirty="0">
                  <a:solidFill>
                    <a:srgbClr val="C7D2F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Understand customer value</a:t>
              </a:r>
              <a:endParaRPr sz="1100" b="0" i="0" u="none" strike="noStrike" dirty="0">
                <a:solidFill>
                  <a:srgbClr val="C7D2F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84" name="Google Shape;184;p16"/>
          <p:cNvGrpSpPr/>
          <p:nvPr/>
        </p:nvGrpSpPr>
        <p:grpSpPr>
          <a:xfrm>
            <a:off x="821528" y="876000"/>
            <a:ext cx="7941471" cy="2038800"/>
            <a:chOff x="440528" y="-1524300"/>
            <a:chExt cx="7941471" cy="2038800"/>
          </a:xfrm>
        </p:grpSpPr>
        <p:sp>
          <p:nvSpPr>
            <p:cNvPr id="185" name="Google Shape;185;p16"/>
            <p:cNvSpPr/>
            <p:nvPr/>
          </p:nvSpPr>
          <p:spPr>
            <a:xfrm>
              <a:off x="440528" y="0"/>
              <a:ext cx="7941471" cy="514500"/>
            </a:xfrm>
            <a:prstGeom prst="roundRect">
              <a:avLst>
                <a:gd name="adj" fmla="val 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6"/>
            <p:cNvSpPr txBox="1"/>
            <p:nvPr/>
          </p:nvSpPr>
          <p:spPr>
            <a:xfrm>
              <a:off x="1200000" y="-1524300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dirty="0">
                <a:solidFill>
                  <a:srgbClr val="A5B4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8" name="Google Shape;188;p16"/>
            <p:cNvSpPr txBox="1"/>
            <p:nvPr/>
          </p:nvSpPr>
          <p:spPr>
            <a:xfrm>
              <a:off x="552450" y="0"/>
              <a:ext cx="18669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50" b="1" i="0" u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Category Penetration</a:t>
              </a:r>
              <a:endParaRPr sz="115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9" name="Google Shape;189;p16"/>
            <p:cNvSpPr txBox="1"/>
            <p:nvPr/>
          </p:nvSpPr>
          <p:spPr>
            <a:xfrm>
              <a:off x="2571750" y="0"/>
              <a:ext cx="27624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Customer/purchase presence across categories</a:t>
              </a:r>
              <a:endParaRPr sz="1100" b="0" i="0" u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0" name="Google Shape;190;p16"/>
            <p:cNvSpPr txBox="1"/>
            <p:nvPr/>
          </p:nvSpPr>
          <p:spPr>
            <a:xfrm>
              <a:off x="5524500" y="0"/>
              <a:ext cx="26670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>
                  <a:solidFill>
                    <a:srgbClr val="C7D2F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Identify popular and underpenetrated categories</a:t>
              </a:r>
              <a:endParaRPr sz="1100" b="0" i="0" u="none" strike="noStrike">
                <a:solidFill>
                  <a:srgbClr val="C7D2F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91" name="Google Shape;191;p16"/>
          <p:cNvGrpSpPr/>
          <p:nvPr/>
        </p:nvGrpSpPr>
        <p:grpSpPr>
          <a:xfrm>
            <a:off x="821528" y="799800"/>
            <a:ext cx="7941472" cy="2629350"/>
            <a:chOff x="440528" y="-2114850"/>
            <a:chExt cx="7941472" cy="2629350"/>
          </a:xfrm>
        </p:grpSpPr>
        <p:sp>
          <p:nvSpPr>
            <p:cNvPr id="192" name="Google Shape;192;p16"/>
            <p:cNvSpPr/>
            <p:nvPr/>
          </p:nvSpPr>
          <p:spPr>
            <a:xfrm>
              <a:off x="440528" y="0"/>
              <a:ext cx="7941472" cy="514500"/>
            </a:xfrm>
            <a:prstGeom prst="roundRect">
              <a:avLst>
                <a:gd name="adj" fmla="val 0"/>
              </a:avLst>
            </a:prstGeom>
            <a:solidFill>
              <a:srgbClr val="0F172A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6"/>
            <p:cNvSpPr txBox="1"/>
            <p:nvPr/>
          </p:nvSpPr>
          <p:spPr>
            <a:xfrm>
              <a:off x="1452487" y="-2114850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dirty="0">
                <a:solidFill>
                  <a:srgbClr val="A5B4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5" name="Google Shape;195;p16"/>
            <p:cNvSpPr txBox="1"/>
            <p:nvPr/>
          </p:nvSpPr>
          <p:spPr>
            <a:xfrm>
              <a:off x="552450" y="0"/>
              <a:ext cx="18669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50" b="1" i="0" u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High-Value Segment Share</a:t>
              </a:r>
              <a:endParaRPr sz="115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6" name="Google Shape;196;p16"/>
            <p:cNvSpPr txBox="1"/>
            <p:nvPr/>
          </p:nvSpPr>
          <p:spPr>
            <a:xfrm>
              <a:off x="2571750" y="0"/>
              <a:ext cx="27624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Sales contribution from high-value customers</a:t>
              </a:r>
              <a:endParaRPr sz="1100" b="0" i="0" u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7" name="Google Shape;197;p16"/>
            <p:cNvSpPr txBox="1"/>
            <p:nvPr/>
          </p:nvSpPr>
          <p:spPr>
            <a:xfrm>
              <a:off x="5524500" y="0"/>
              <a:ext cx="26670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>
                  <a:solidFill>
                    <a:srgbClr val="C7D2F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Identify valuable customer segments</a:t>
              </a:r>
              <a:endParaRPr sz="1100" b="0" i="0" u="none" strike="noStrike">
                <a:solidFill>
                  <a:srgbClr val="C7D2F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98" name="Google Shape;198;p16"/>
          <p:cNvGrpSpPr/>
          <p:nvPr/>
        </p:nvGrpSpPr>
        <p:grpSpPr>
          <a:xfrm>
            <a:off x="821526" y="526406"/>
            <a:ext cx="7941473" cy="3417094"/>
            <a:chOff x="440526" y="-2902594"/>
            <a:chExt cx="7941473" cy="3417094"/>
          </a:xfrm>
        </p:grpSpPr>
        <p:sp>
          <p:nvSpPr>
            <p:cNvPr id="199" name="Google Shape;199;p16"/>
            <p:cNvSpPr/>
            <p:nvPr/>
          </p:nvSpPr>
          <p:spPr>
            <a:xfrm>
              <a:off x="440526" y="0"/>
              <a:ext cx="7941473" cy="514500"/>
            </a:xfrm>
            <a:prstGeom prst="roundRect">
              <a:avLst>
                <a:gd name="adj" fmla="val 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6"/>
            <p:cNvSpPr txBox="1"/>
            <p:nvPr/>
          </p:nvSpPr>
          <p:spPr>
            <a:xfrm>
              <a:off x="1257113" y="-2902594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dirty="0">
                <a:solidFill>
                  <a:srgbClr val="A5B4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2" name="Google Shape;202;p16"/>
            <p:cNvSpPr txBox="1"/>
            <p:nvPr/>
          </p:nvSpPr>
          <p:spPr>
            <a:xfrm>
              <a:off x="552450" y="0"/>
              <a:ext cx="18669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50" b="1" i="0" u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City-Level Contribution</a:t>
              </a:r>
              <a:endParaRPr sz="115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3" name="Google Shape;203;p16"/>
            <p:cNvSpPr txBox="1"/>
            <p:nvPr/>
          </p:nvSpPr>
          <p:spPr>
            <a:xfrm>
              <a:off x="2571750" y="0"/>
              <a:ext cx="27624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Sales contribution by city category</a:t>
              </a:r>
              <a:endParaRPr sz="1100" b="0" i="0" u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4" name="Google Shape;204;p16"/>
            <p:cNvSpPr txBox="1"/>
            <p:nvPr/>
          </p:nvSpPr>
          <p:spPr>
            <a:xfrm>
              <a:off x="5524500" y="0"/>
              <a:ext cx="26670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>
                  <a:solidFill>
                    <a:srgbClr val="C7D2F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Compare geographic performance</a:t>
              </a:r>
              <a:endParaRPr sz="1100" b="0" i="0" u="none" strike="noStrike">
                <a:solidFill>
                  <a:srgbClr val="C7D2F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821526" y="118800"/>
            <a:ext cx="7941474" cy="4339050"/>
            <a:chOff x="440526" y="-3824550"/>
            <a:chExt cx="7941474" cy="4339050"/>
          </a:xfrm>
        </p:grpSpPr>
        <p:sp>
          <p:nvSpPr>
            <p:cNvPr id="206" name="Google Shape;206;p16"/>
            <p:cNvSpPr/>
            <p:nvPr/>
          </p:nvSpPr>
          <p:spPr>
            <a:xfrm>
              <a:off x="440526" y="0"/>
              <a:ext cx="7941474" cy="514500"/>
            </a:xfrm>
            <a:prstGeom prst="roundRect">
              <a:avLst>
                <a:gd name="adj" fmla="val 0"/>
              </a:avLst>
            </a:prstGeom>
            <a:solidFill>
              <a:srgbClr val="0F172A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6"/>
            <p:cNvSpPr txBox="1"/>
            <p:nvPr/>
          </p:nvSpPr>
          <p:spPr>
            <a:xfrm>
              <a:off x="1560909" y="-3824550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dirty="0">
                <a:solidFill>
                  <a:srgbClr val="A5B4F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9" name="Google Shape;209;p16"/>
            <p:cNvSpPr txBox="1"/>
            <p:nvPr/>
          </p:nvSpPr>
          <p:spPr>
            <a:xfrm>
              <a:off x="552450" y="0"/>
              <a:ext cx="18669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50" b="1" i="0" u="none" strike="noStrik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Repeat Purchase Rate</a:t>
              </a:r>
              <a:endParaRPr sz="1150" b="1" i="0" u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2571750" y="0"/>
              <a:ext cx="27624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Customers making multiple purchases</a:t>
              </a:r>
              <a:endParaRPr sz="1100" b="0" i="0" u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1" name="Google Shape;211;p16"/>
            <p:cNvSpPr txBox="1"/>
            <p:nvPr/>
          </p:nvSpPr>
          <p:spPr>
            <a:xfrm>
              <a:off x="5524500" y="0"/>
              <a:ext cx="26670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 u="none" strike="noStrike">
                  <a:solidFill>
                    <a:srgbClr val="C7D2FE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Measure customer loyalty</a:t>
              </a:r>
              <a:endParaRPr sz="1100" b="0" i="0" u="none" strike="noStrike">
                <a:solidFill>
                  <a:srgbClr val="C7D2FE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821530" y="938457"/>
            <a:ext cx="7941469" cy="444768"/>
            <a:chOff x="0" y="-14043"/>
            <a:chExt cx="8382000" cy="444768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8382000" cy="419100"/>
            </a:xfrm>
            <a:prstGeom prst="roundRect">
              <a:avLst>
                <a:gd name="adj" fmla="val 18181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6"/>
            <p:cNvSpPr txBox="1"/>
            <p:nvPr/>
          </p:nvSpPr>
          <p:spPr>
            <a:xfrm>
              <a:off x="228600" y="0"/>
              <a:ext cx="21909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KPI</a:t>
              </a:r>
              <a:endParaRPr sz="1100" b="1" i="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5" name="Google Shape;215;p16"/>
            <p:cNvSpPr txBox="1"/>
            <p:nvPr/>
          </p:nvSpPr>
          <p:spPr>
            <a:xfrm>
              <a:off x="2247699" y="11625"/>
              <a:ext cx="27624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WHAT IT MEASURES</a:t>
              </a:r>
              <a:endParaRPr sz="1100" b="1" i="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6" name="Google Shape;216;p16"/>
            <p:cNvSpPr txBox="1"/>
            <p:nvPr/>
          </p:nvSpPr>
          <p:spPr>
            <a:xfrm>
              <a:off x="5362549" y="-14043"/>
              <a:ext cx="26670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BUSINESS PURPOSE</a:t>
              </a:r>
              <a:endParaRPr sz="1100" b="1" i="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17"/>
          <p:cNvGrpSpPr/>
          <p:nvPr/>
        </p:nvGrpSpPr>
        <p:grpSpPr>
          <a:xfrm>
            <a:off x="381000" y="247650"/>
            <a:ext cx="8382000" cy="714300"/>
            <a:chOff x="0" y="0"/>
            <a:chExt cx="8382000" cy="714300"/>
          </a:xfrm>
        </p:grpSpPr>
        <p:sp>
          <p:nvSpPr>
            <p:cNvPr id="222" name="Google Shape;222;p17"/>
            <p:cNvSpPr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7"/>
            <p:cNvSpPr txBox="1"/>
            <p:nvPr/>
          </p:nvSpPr>
          <p:spPr>
            <a:xfrm>
              <a:off x="0" y="0"/>
              <a:ext cx="83820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00" b="0" i="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Business Questions</a:t>
              </a:r>
              <a:endParaRPr sz="3000" b="0" i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-GB" sz="1350" b="0" i="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Core analytical questions to evaluate Black Friday performance</a:t>
              </a:r>
              <a:endParaRPr sz="1350" b="0" i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24" name="Google Shape;224;p17"/>
          <p:cNvGrpSpPr/>
          <p:nvPr/>
        </p:nvGrpSpPr>
        <p:grpSpPr>
          <a:xfrm>
            <a:off x="381000" y="1095375"/>
            <a:ext cx="1952700" cy="1714500"/>
            <a:chOff x="0" y="0"/>
            <a:chExt cx="1952700" cy="1714500"/>
          </a:xfrm>
        </p:grpSpPr>
        <p:sp>
          <p:nvSpPr>
            <p:cNvPr id="225" name="Google Shape;225;p17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7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9" name="Google Shape;229;p17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Sales Revenue</a:t>
              </a:r>
              <a:endParaRPr sz="110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9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Which customer segments contribute the most to total sales?</a:t>
              </a:r>
              <a:endParaRPr sz="95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30" name="Google Shape;230;p17"/>
          <p:cNvGrpSpPr/>
          <p:nvPr/>
        </p:nvGrpSpPr>
        <p:grpSpPr>
          <a:xfrm>
            <a:off x="2524125" y="1095375"/>
            <a:ext cx="1952700" cy="1714500"/>
            <a:chOff x="0" y="0"/>
            <a:chExt cx="1952700" cy="1714500"/>
          </a:xfrm>
        </p:grpSpPr>
        <p:sp>
          <p:nvSpPr>
            <p:cNvPr id="231" name="Google Shape;231;p17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7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4" name="Google Shape;234;p17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5" name="Google Shape;235;p17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Underpenetrated Groups</a:t>
              </a:r>
              <a:endParaRPr sz="110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9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Which customer groups are underpenetrated?</a:t>
              </a:r>
              <a:endParaRPr sz="95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36" name="Google Shape;236;p17"/>
          <p:cNvGrpSpPr/>
          <p:nvPr/>
        </p:nvGrpSpPr>
        <p:grpSpPr>
          <a:xfrm>
            <a:off x="4667250" y="1095375"/>
            <a:ext cx="1952700" cy="1714500"/>
            <a:chOff x="0" y="0"/>
            <a:chExt cx="1952700" cy="1714500"/>
          </a:xfrm>
        </p:grpSpPr>
        <p:sp>
          <p:nvSpPr>
            <p:cNvPr id="237" name="Google Shape;237;p17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7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0" name="Google Shape;240;p17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1" name="Google Shape;241;p17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Product Categories</a:t>
              </a:r>
              <a:endParaRPr sz="110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9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Which product categories dominate Black Friday sales?</a:t>
              </a:r>
              <a:endParaRPr sz="95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42" name="Google Shape;242;p17"/>
          <p:cNvGrpSpPr/>
          <p:nvPr/>
        </p:nvGrpSpPr>
        <p:grpSpPr>
          <a:xfrm>
            <a:off x="6810375" y="1095375"/>
            <a:ext cx="1952700" cy="1714500"/>
            <a:chOff x="0" y="0"/>
            <a:chExt cx="1952700" cy="1714500"/>
          </a:xfrm>
        </p:grpSpPr>
        <p:sp>
          <p:nvSpPr>
            <p:cNvPr id="243" name="Google Shape;243;p17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6" name="Google Shape;246;p17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7" name="Google Shape;247;p17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City Contribution</a:t>
              </a:r>
              <a:endParaRPr sz="110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9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Which City Category contributes the most revenue?</a:t>
              </a:r>
              <a:endParaRPr sz="95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48" name="Google Shape;248;p17"/>
          <p:cNvGrpSpPr/>
          <p:nvPr/>
        </p:nvGrpSpPr>
        <p:grpSpPr>
          <a:xfrm>
            <a:off x="381000" y="2952750"/>
            <a:ext cx="1952700" cy="1714500"/>
            <a:chOff x="0" y="0"/>
            <a:chExt cx="1952700" cy="1714500"/>
          </a:xfrm>
        </p:grpSpPr>
        <p:sp>
          <p:nvSpPr>
            <p:cNvPr id="249" name="Google Shape;249;p17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2" name="Google Shape;252;p17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3" name="Google Shape;253;p17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Demographic Impact</a:t>
              </a:r>
              <a:endParaRPr sz="110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9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How do age, gender, occupation, &amp; marital status influence purchase value?</a:t>
              </a:r>
              <a:endParaRPr sz="95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54" name="Google Shape;254;p17"/>
          <p:cNvGrpSpPr/>
          <p:nvPr/>
        </p:nvGrpSpPr>
        <p:grpSpPr>
          <a:xfrm>
            <a:off x="2524125" y="2952750"/>
            <a:ext cx="1952700" cy="1714500"/>
            <a:chOff x="0" y="0"/>
            <a:chExt cx="1952700" cy="1714500"/>
          </a:xfrm>
        </p:grpSpPr>
        <p:sp>
          <p:nvSpPr>
            <p:cNvPr id="255" name="Google Shape;255;p17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7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06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8" name="Google Shape;258;p17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9" name="Google Shape;259;p17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Top Spenders</a:t>
              </a:r>
              <a:endParaRPr sz="110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9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Which customers have the highest purchasing value?</a:t>
              </a:r>
              <a:endParaRPr sz="95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60" name="Google Shape;260;p17"/>
          <p:cNvGrpSpPr/>
          <p:nvPr/>
        </p:nvGrpSpPr>
        <p:grpSpPr>
          <a:xfrm>
            <a:off x="4667250" y="2952750"/>
            <a:ext cx="1952700" cy="1714500"/>
            <a:chOff x="0" y="0"/>
            <a:chExt cx="1952700" cy="1714500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7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7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07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4" name="Google Shape;264;p17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Cross-Selling</a:t>
              </a:r>
              <a:endParaRPr sz="110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9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Where are the best opportunities for cross-selling and upselling?</a:t>
              </a:r>
              <a:endParaRPr sz="95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66" name="Google Shape;266;p17"/>
          <p:cNvGrpSpPr/>
          <p:nvPr/>
        </p:nvGrpSpPr>
        <p:grpSpPr>
          <a:xfrm>
            <a:off x="6810375" y="2952750"/>
            <a:ext cx="1952700" cy="1714500"/>
            <a:chOff x="0" y="0"/>
            <a:chExt cx="1952700" cy="1714500"/>
          </a:xfrm>
        </p:grpSpPr>
        <p:sp>
          <p:nvSpPr>
            <p:cNvPr id="267" name="Google Shape;267;p17"/>
            <p:cNvSpPr/>
            <p:nvPr/>
          </p:nvSpPr>
          <p:spPr>
            <a:xfrm>
              <a:off x="0" y="0"/>
              <a:ext cx="19527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152400" y="133350"/>
              <a:ext cx="3429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7"/>
            <p:cNvSpPr txBox="1"/>
            <p:nvPr/>
          </p:nvSpPr>
          <p:spPr>
            <a:xfrm>
              <a:off x="152400" y="133350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 i="0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08</a:t>
              </a:r>
              <a:endParaRPr sz="1100" b="1" i="0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0" name="Google Shape;270;p17"/>
            <p:cNvSpPr txBox="1"/>
            <p:nvPr/>
          </p:nvSpPr>
          <p:spPr>
            <a:xfrm>
              <a:off x="1457325" y="180086"/>
              <a:ext cx="3429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dirty="0">
                <a:solidFill>
                  <a:srgbClr val="818C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71" name="Google Shape;271;p17"/>
            <p:cNvSpPr txBox="1"/>
            <p:nvPr/>
          </p:nvSpPr>
          <p:spPr>
            <a:xfrm>
              <a:off x="152400" y="495300"/>
              <a:ext cx="16479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 i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Loyalty Targeting</a:t>
              </a:r>
              <a:endParaRPr sz="110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GB" sz="950" b="0" i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Which customers should be targeted for loyalty &amp; retention campaigns?</a:t>
              </a:r>
              <a:endParaRPr sz="950" b="0" i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 txBox="1">
            <a:spLocks noGrp="1"/>
          </p:cNvSpPr>
          <p:nvPr>
            <p:ph type="title"/>
          </p:nvPr>
        </p:nvSpPr>
        <p:spPr>
          <a:xfrm>
            <a:off x="381000" y="247650"/>
            <a:ext cx="83820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60" b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Hypotheses</a:t>
            </a:r>
            <a:endParaRPr sz="2960" b="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249" b="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Key assumptions to test during the Black Friday data analysis</a:t>
            </a:r>
            <a:endParaRPr sz="1249" b="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77" name="Google Shape;277;p18"/>
          <p:cNvGrpSpPr/>
          <p:nvPr/>
        </p:nvGrpSpPr>
        <p:grpSpPr>
          <a:xfrm>
            <a:off x="381000" y="1095375"/>
            <a:ext cx="2667000" cy="1714500"/>
            <a:chOff x="0" y="0"/>
            <a:chExt cx="2667000" cy="1714500"/>
          </a:xfrm>
        </p:grpSpPr>
        <p:sp>
          <p:nvSpPr>
            <p:cNvPr id="278" name="Google Shape;278;p18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171450" y="152400"/>
              <a:ext cx="3810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8"/>
            <p:cNvSpPr txBox="1"/>
            <p:nvPr/>
          </p:nvSpPr>
          <p:spPr>
            <a:xfrm>
              <a:off x="171450" y="142875"/>
              <a:ext cx="381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sz="1100" b="1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3" name="Google Shape;283;p18"/>
            <p:cNvSpPr txBox="1"/>
            <p:nvPr/>
          </p:nvSpPr>
          <p:spPr>
            <a:xfrm>
              <a:off x="171450" y="514350"/>
              <a:ext cx="23241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H1 — City Spending</a:t>
              </a:r>
              <a:endParaRPr sz="135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Metro/City Category A customers have significantly higher average purchase values than customers from other city categories.</a:t>
              </a:r>
              <a:endParaRPr sz="10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4" name="Google Shape;284;p18"/>
          <p:cNvGrpSpPr/>
          <p:nvPr/>
        </p:nvGrpSpPr>
        <p:grpSpPr>
          <a:xfrm>
            <a:off x="3238500" y="1095375"/>
            <a:ext cx="2667000" cy="1714500"/>
            <a:chOff x="0" y="0"/>
            <a:chExt cx="2667000" cy="1714500"/>
          </a:xfrm>
        </p:grpSpPr>
        <p:sp>
          <p:nvSpPr>
            <p:cNvPr id="285" name="Google Shape;285;p18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171450" y="152400"/>
              <a:ext cx="3810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8"/>
            <p:cNvSpPr txBox="1"/>
            <p:nvPr/>
          </p:nvSpPr>
          <p:spPr>
            <a:xfrm>
              <a:off x="171450" y="142875"/>
              <a:ext cx="381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sz="1100" b="1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0" name="Google Shape;290;p18"/>
            <p:cNvSpPr txBox="1"/>
            <p:nvPr/>
          </p:nvSpPr>
          <p:spPr>
            <a:xfrm>
              <a:off x="171450" y="514350"/>
              <a:ext cx="23241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H2 — Marital Status</a:t>
              </a:r>
              <a:endParaRPr sz="135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Married customers have greater product category breadth than single customers.</a:t>
              </a:r>
              <a:endParaRPr sz="10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1" name="Google Shape;291;p18"/>
          <p:cNvGrpSpPr/>
          <p:nvPr/>
        </p:nvGrpSpPr>
        <p:grpSpPr>
          <a:xfrm>
            <a:off x="6096000" y="1095375"/>
            <a:ext cx="2667000" cy="1714500"/>
            <a:chOff x="0" y="0"/>
            <a:chExt cx="2667000" cy="1714500"/>
          </a:xfrm>
        </p:grpSpPr>
        <p:sp>
          <p:nvSpPr>
            <p:cNvPr id="292" name="Google Shape;292;p18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171450" y="152400"/>
              <a:ext cx="3810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8"/>
            <p:cNvSpPr txBox="1"/>
            <p:nvPr/>
          </p:nvSpPr>
          <p:spPr>
            <a:xfrm>
              <a:off x="171450" y="142875"/>
              <a:ext cx="381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sz="1100" b="1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97" name="Google Shape;297;p18"/>
            <p:cNvSpPr txBox="1"/>
            <p:nvPr/>
          </p:nvSpPr>
          <p:spPr>
            <a:xfrm>
              <a:off x="171450" y="514350"/>
              <a:ext cx="23241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H3 — High-Value</a:t>
              </a:r>
              <a:endParaRPr sz="135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High-value customers contribute a disproportionately large share of total Black Friday sales.</a:t>
              </a:r>
              <a:endParaRPr sz="10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8" name="Google Shape;298;p18"/>
          <p:cNvGrpSpPr/>
          <p:nvPr/>
        </p:nvGrpSpPr>
        <p:grpSpPr>
          <a:xfrm>
            <a:off x="381000" y="3000375"/>
            <a:ext cx="2667000" cy="1714500"/>
            <a:chOff x="0" y="0"/>
            <a:chExt cx="2667000" cy="1714500"/>
          </a:xfrm>
        </p:grpSpPr>
        <p:sp>
          <p:nvSpPr>
            <p:cNvPr id="299" name="Google Shape;299;p18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171450" y="152400"/>
              <a:ext cx="3810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8"/>
            <p:cNvSpPr txBox="1"/>
            <p:nvPr/>
          </p:nvSpPr>
          <p:spPr>
            <a:xfrm>
              <a:off x="171450" y="142875"/>
              <a:ext cx="381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sz="1100" b="1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4" name="Google Shape;304;p18"/>
            <p:cNvSpPr txBox="1"/>
            <p:nvPr/>
          </p:nvSpPr>
          <p:spPr>
            <a:xfrm>
              <a:off x="171450" y="514350"/>
              <a:ext cx="23241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H4 — City Categories</a:t>
              </a:r>
              <a:endParaRPr sz="135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Average purchase values differ significantly across City Categories A, B, and C.</a:t>
              </a:r>
              <a:endParaRPr sz="10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5" name="Google Shape;305;p18"/>
          <p:cNvGrpSpPr/>
          <p:nvPr/>
        </p:nvGrpSpPr>
        <p:grpSpPr>
          <a:xfrm>
            <a:off x="3238500" y="3000375"/>
            <a:ext cx="2667000" cy="1714500"/>
            <a:chOff x="0" y="0"/>
            <a:chExt cx="2667000" cy="1714500"/>
          </a:xfrm>
        </p:grpSpPr>
        <p:sp>
          <p:nvSpPr>
            <p:cNvPr id="306" name="Google Shape;306;p18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171450" y="152400"/>
              <a:ext cx="3810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8"/>
            <p:cNvSpPr txBox="1"/>
            <p:nvPr/>
          </p:nvSpPr>
          <p:spPr>
            <a:xfrm>
              <a:off x="171450" y="142875"/>
              <a:ext cx="381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05</a:t>
              </a:r>
              <a:endParaRPr sz="1100" b="1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1" name="Google Shape;311;p18"/>
            <p:cNvSpPr txBox="1"/>
            <p:nvPr/>
          </p:nvSpPr>
          <p:spPr>
            <a:xfrm>
              <a:off x="171450" y="514350"/>
              <a:ext cx="23241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H5 — Demographics</a:t>
              </a:r>
              <a:endParaRPr sz="135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Age, gender, and occupation are associated with differences in customer purchase values.</a:t>
              </a:r>
              <a:endParaRPr sz="10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2" name="Google Shape;312;p18"/>
          <p:cNvGrpSpPr/>
          <p:nvPr/>
        </p:nvGrpSpPr>
        <p:grpSpPr>
          <a:xfrm>
            <a:off x="6096000" y="3000375"/>
            <a:ext cx="2667000" cy="1714500"/>
            <a:chOff x="0" y="0"/>
            <a:chExt cx="2667000" cy="1714500"/>
          </a:xfrm>
        </p:grpSpPr>
        <p:sp>
          <p:nvSpPr>
            <p:cNvPr id="313" name="Google Shape;313;p18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name="adj" fmla="val 6666"/>
              </a:avLst>
            </a:prstGeom>
            <a:solidFill>
              <a:srgbClr val="1E293B"/>
            </a:solidFill>
            <a:ln w="143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171450" y="152400"/>
              <a:ext cx="381000" cy="266700"/>
            </a:xfrm>
            <a:prstGeom prst="roundRect">
              <a:avLst>
                <a:gd name="adj" fmla="val 21428"/>
              </a:avLst>
            </a:prstGeom>
            <a:solidFill>
              <a:srgbClr val="312E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8"/>
            <p:cNvSpPr txBox="1"/>
            <p:nvPr/>
          </p:nvSpPr>
          <p:spPr>
            <a:xfrm>
              <a:off x="171450" y="142875"/>
              <a:ext cx="381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A5B4FC"/>
                  </a:solidFill>
                  <a:latin typeface="Inter"/>
                  <a:ea typeface="Inter"/>
                  <a:cs typeface="Inter"/>
                  <a:sym typeface="Inter"/>
                </a:rPr>
                <a:t>06</a:t>
              </a:r>
              <a:endParaRPr sz="1100" b="1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8" name="Google Shape;318;p18"/>
            <p:cNvSpPr txBox="1"/>
            <p:nvPr/>
          </p:nvSpPr>
          <p:spPr>
            <a:xfrm>
              <a:off x="171450" y="514350"/>
              <a:ext cx="2324100" cy="10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H6 — Category Breadth</a:t>
              </a:r>
              <a:endParaRPr sz="135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Customers purchasing across more product categories have higher overall purchase values.</a:t>
              </a:r>
              <a:endParaRPr sz="10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</Words>
  <Application>Microsoft Office PowerPoint</Application>
  <PresentationFormat>On-screen Show (16:9)</PresentationFormat>
  <Paragraphs>121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Material Icons</vt:lpstr>
      <vt:lpstr>Arial</vt:lpstr>
      <vt:lpstr>Inter</vt:lpstr>
      <vt:lpstr>Inter Medium</vt:lpstr>
      <vt:lpstr>Inter SemiBold</vt:lpstr>
      <vt:lpstr>Inter ExtraBold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Hypotheses Key assumptions to test during the Black Friday data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Aashish yadav</cp:lastModifiedBy>
  <cp:revision>2</cp:revision>
  <dcterms:modified xsi:type="dcterms:W3CDTF">2026-10-21T11:13:38Z</dcterms:modified>
</cp:coreProperties>
</file>